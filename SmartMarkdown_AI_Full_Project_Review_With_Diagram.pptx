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502920"/>
            <a:ext cx="2194560" cy="2194560"/>
          </a:xfrm>
          <a:prstGeom prst="ellipse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2148840"/>
            <a:ext cx="1371600" cy="1371600"/>
          </a:xfrm>
          <a:prstGeom prst="ellipse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3383280"/>
            <a:ext cx="914400" cy="914400"/>
          </a:xfrm>
          <a:prstGeom prst="ellipse">
            <a:avLst/>
          </a:prstGeom>
          <a:solidFill>
            <a:srgbClr val="68A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7223760" cy="10972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SmartMarkdown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6949440" cy="10058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300" b="0">
                <a:solidFill>
                  <a:srgbClr val="DCEDE1"/>
                </a:solidFill>
                <a:latin typeface="Aptos"/>
              </a:defRPr>
            </a:pPr>
            <a:r>
              <a:t>Expiry-aware pricing for perishable groceries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61"/>
            <a:ext cx="6949440" cy="6858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Simulation • Inventory • Markdown policies • Analytics dashboard • Shopper storefront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00C0D2-95C7-4CA4-EA6A-E67FB3963EBF}"/>
              </a:ext>
            </a:extLst>
          </p:cNvPr>
          <p:cNvSpPr txBox="1"/>
          <p:nvPr/>
        </p:nvSpPr>
        <p:spPr>
          <a:xfrm>
            <a:off x="777240" y="4251961"/>
            <a:ext cx="27832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MOHAN RAJ I-23MID0121</a:t>
            </a:r>
          </a:p>
          <a:p>
            <a:r>
              <a:rPr lang="en-US" dirty="0">
                <a:solidFill>
                  <a:schemeClr val="bg2"/>
                </a:solidFill>
              </a:rPr>
              <a:t>ATHIYAMAAN S-23MID0245</a:t>
            </a:r>
          </a:p>
          <a:p>
            <a:r>
              <a:rPr lang="en-US" dirty="0">
                <a:solidFill>
                  <a:schemeClr val="bg2"/>
                </a:solidFill>
              </a:rPr>
              <a:t>SHOBANA B-23MID0212</a:t>
            </a:r>
          </a:p>
          <a:p>
            <a:r>
              <a:rPr lang="en-US" dirty="0">
                <a:solidFill>
                  <a:schemeClr val="bg2"/>
                </a:solidFill>
              </a:rPr>
              <a:t>VALENTINA  SK-23MI0189</a:t>
            </a:r>
            <a:endParaRPr lang="en-IN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01 •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What the project is trying to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486400" cy="4206240"/>
          </a:xfrm>
          <a:prstGeom prst="rect">
            <a:avLst/>
          </a:prstGeom>
          <a:noFill/>
        </p:spPr>
        <p:txBody>
          <a:bodyPr wrap="square" lIns="73152" tIns="18288" rIns="36576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63236"/>
                </a:solidFill>
                <a:latin typeface="Aptos"/>
              </a:defRPr>
            </a:pPr>
            <a:r>
              <a:t>• Perishable products lose sale value as expiry approaches.</a:t>
            </a:r>
          </a:p>
          <a:p>
            <a:pPr>
              <a:spcAft>
                <a:spcPts val="700"/>
              </a:spcAft>
              <a:defRPr sz="1700">
                <a:solidFill>
                  <a:srgbClr val="263236"/>
                </a:solidFill>
                <a:latin typeface="Aptos"/>
              </a:defRPr>
            </a:pPr>
            <a:r>
              <a:t>• Keeping the base price can leave stock unsold and wasted.</a:t>
            </a:r>
          </a:p>
          <a:p>
            <a:pPr>
              <a:spcAft>
                <a:spcPts val="700"/>
              </a:spcAft>
              <a:defRPr sz="1700">
                <a:solidFill>
                  <a:srgbClr val="263236"/>
                </a:solidFill>
                <a:latin typeface="Aptos"/>
              </a:defRPr>
            </a:pPr>
            <a:r>
              <a:t>• Discounting can improve sell-through but reduces revenue per sold unit.</a:t>
            </a:r>
          </a:p>
          <a:p>
            <a:pPr>
              <a:spcAft>
                <a:spcPts val="700"/>
              </a:spcAft>
              <a:defRPr sz="1700">
                <a:solidFill>
                  <a:srgbClr val="263236"/>
                </a:solidFill>
                <a:latin typeface="Aptos"/>
              </a:defRPr>
            </a:pPr>
            <a:r>
              <a:t>• The business decision is a trade-off between waste reduction and profitability.</a:t>
            </a:r>
          </a:p>
          <a:p>
            <a:pPr>
              <a:spcAft>
                <a:spcPts val="700"/>
              </a:spcAft>
              <a:defRPr sz="1700">
                <a:solidFill>
                  <a:srgbClr val="263236"/>
                </a:solidFill>
                <a:latin typeface="Aptos"/>
              </a:defRPr>
            </a:pPr>
            <a:r>
              <a:t>• The project uses simulation to compare policies before applying them to a real store.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2148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645920"/>
            <a:ext cx="64008" cy="1463040"/>
          </a:xfrm>
          <a:prstGeom prst="rect">
            <a:avLst/>
          </a:prstGeom>
          <a:solidFill>
            <a:srgbClr val="B74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6831" y="1755648"/>
            <a:ext cx="187452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Waste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2121408"/>
            <a:ext cx="1856232" cy="9144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Expired units contribute cost without generating sales.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645920"/>
            <a:ext cx="2148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15400" y="1645920"/>
            <a:ext cx="64008" cy="146304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79992" y="1755648"/>
            <a:ext cx="187452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Margin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2121408"/>
            <a:ext cx="1856232" cy="9144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Large discounts can erode gross margin.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474720"/>
            <a:ext cx="4572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92240" y="3474720"/>
            <a:ext cx="64008" cy="150876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56831" y="3584448"/>
            <a:ext cx="42976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1" y="3950208"/>
            <a:ext cx="4279392" cy="96011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Make the trade-off measurable with reproducible runs and product-level traceability.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Project scope and feature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62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Implemented in uploaded files</a:t>
                      </a:r>
                    </a:p>
                  </a:txBody>
                  <a:tcPr>
                    <a:solidFill>
                      <a:srgbClr val="162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Boundary / status</a:t>
                      </a:r>
                    </a:p>
                  </a:txBody>
                  <a:tcPr>
                    <a:solidFill>
                      <a:srgbClr val="162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Simulation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app.py: run controls, KPI comparison, charts, event filtering/export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Main comparison runs fixed vs markdown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Simulation engine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simulator.py: arrivals, expiry, demand, FEFO, accounting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Synthetic assumptions; not a trained ML model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Product catalogue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20 products in products.csv; generated by data_generator.py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Synthetic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Policy search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simulator.py grid search + policy_comparison.csv + select_policy.py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Shared discount pairs, profit-first ranking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Selective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simulator.py and test_selective.py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Experiment script; not in main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Inventory uploads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app.py validates CSV snapshot and archives upload history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Separate from simulation inventory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Shopper storefront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store.py search, category filter, deals filter, cart, demo checkout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Deals illustrative, not live stock-linked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Extra dataset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3,000-row synthetic_grocery_inventory.csv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Separate dataset; not used by main simulator flow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03 •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Architecture and file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4008" cy="114300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527048"/>
            <a:ext cx="489204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products.csv + data_generator.py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4873752" cy="5943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Catalogue attributes for 20 products.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64008" cy="114300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527048"/>
            <a:ext cx="489204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simulator.py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892808"/>
            <a:ext cx="4873752" cy="5943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Core simulation, policy rules, metrics, event logs and grid search.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3464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2834640"/>
            <a:ext cx="64008" cy="114300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2944368"/>
            <a:ext cx="489204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app.py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310128"/>
            <a:ext cx="4873752" cy="5943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Dashboard, matched policy runs, charts, event filters and inventory upload UI.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83464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2834640"/>
            <a:ext cx="64008" cy="114300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9672" y="2944368"/>
            <a:ext cx="489204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select_policy.py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310128"/>
            <a:ext cx="4873752" cy="5943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Ranks the precomputed policy comparison results.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5196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4251960"/>
            <a:ext cx="64008" cy="114300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4361688"/>
            <a:ext cx="489204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test_selective.py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727448"/>
            <a:ext cx="4873752" cy="5943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Runs 10-seed comparison across fixed, markdown and selective.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25196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55080" y="4251960"/>
            <a:ext cx="64008" cy="114300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9672" y="4361688"/>
            <a:ext cx="489204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store.py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4727448"/>
            <a:ext cx="4873752" cy="5943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Separate FreshMart shopper-facing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04 • 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End-to-end simulation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64008" cy="96012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481328"/>
            <a:ext cx="484632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1.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847088"/>
            <a:ext cx="4828031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Read catalogue fields and validate required columns.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371600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59" y="1371600"/>
            <a:ext cx="64008" cy="96012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1" y="1481328"/>
            <a:ext cx="484632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2. 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1" y="1847088"/>
            <a:ext cx="4828031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Create seeded arrival and demand streams; pre-generate demand.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532888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2532888"/>
            <a:ext cx="64008" cy="96012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2642616"/>
            <a:ext cx="484632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3. Expire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008376"/>
            <a:ext cx="4828031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Remove batches with expiry_day &lt;= current day before sales.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2532888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59" y="2532888"/>
            <a:ext cx="64008" cy="96012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1" y="2642616"/>
            <a:ext cx="484632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4. Receive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1" y="3008376"/>
            <a:ext cx="4828031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On day indices 0, 2, 4… receive a replenishment batch.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94176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3694176"/>
            <a:ext cx="64008" cy="96012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803904"/>
            <a:ext cx="484632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5. 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169664"/>
            <a:ext cx="4828031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Choose fixed base price or markdown based on days left.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3694176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59" y="3694176"/>
            <a:ext cx="64008" cy="96012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1" y="3803904"/>
            <a:ext cx="484632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6. 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1" y="4169664"/>
            <a:ext cx="4828031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Adjust baseline demand for freshness, price elasticity and response.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855464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4855464"/>
            <a:ext cx="64008" cy="96012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4965192"/>
            <a:ext cx="484632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7. Sell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330952"/>
            <a:ext cx="4828031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Sell earliest-expiring inventory first (FEFO).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59" y="4855464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09359" y="4855464"/>
            <a:ext cx="64008" cy="96012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73951" y="4965192"/>
            <a:ext cx="484632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8. Aggregate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1" y="5330952"/>
            <a:ext cx="4828031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Calculate daily records, event history and final KPIs.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05 •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Inventory batches and expiry convention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760720" cy="4389120"/>
          </a:xfrm>
          <a:prstGeom prst="rect">
            <a:avLst/>
          </a:prstGeom>
          <a:noFill/>
        </p:spPr>
        <p:txBody>
          <a:bodyPr wrap="square" lIns="73152" tIns="18288" rIns="36576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3236"/>
                </a:solidFill>
                <a:latin typeface="Aptos"/>
              </a:defRPr>
            </a:pPr>
            <a:r>
              <a:t>• Each product maintains a queue of inventory batches.</a:t>
            </a:r>
          </a:p>
          <a:p>
            <a:pPr>
              <a:spcAft>
                <a:spcPts val="700"/>
              </a:spcAft>
              <a:defRPr sz="1500">
                <a:solidFill>
                  <a:srgbClr val="263236"/>
                </a:solidFill>
                <a:latin typeface="Aptos"/>
              </a:defRPr>
            </a:pPr>
            <a:r>
              <a:t>• Every batch stores quantity, arrival_day and expiry_day.</a:t>
            </a:r>
          </a:p>
          <a:p>
            <a:pPr>
              <a:spcAft>
                <a:spcPts val="700"/>
              </a:spcAft>
              <a:defRPr sz="1500">
                <a:solidFill>
                  <a:srgbClr val="263236"/>
                </a:solidFill>
                <a:latin typeface="Aptos"/>
              </a:defRPr>
            </a:pPr>
            <a:r>
              <a:t>• A new batch arrives on every even day index.</a:t>
            </a:r>
          </a:p>
          <a:p>
            <a:pPr>
              <a:spcAft>
                <a:spcPts val="700"/>
              </a:spcAft>
              <a:defRPr sz="1500">
                <a:solidFill>
                  <a:srgbClr val="263236"/>
                </a:solidFill>
                <a:latin typeface="Aptos"/>
              </a:defRPr>
            </a:pPr>
            <a:r>
              <a:t>• Arrival quantity is sampled around 2 × average daily demand.</a:t>
            </a:r>
          </a:p>
          <a:p>
            <a:pPr>
              <a:spcAft>
                <a:spcPts val="700"/>
              </a:spcAft>
              <a:defRPr sz="1500">
                <a:solidFill>
                  <a:srgbClr val="263236"/>
                </a:solidFill>
                <a:latin typeface="Aptos"/>
              </a:defRPr>
            </a:pPr>
            <a:r>
              <a:t>• A batch arriving with shelf life 2 on day index 0 can sell on indices 0 and 1; it expires before sales on index 2.</a:t>
            </a:r>
          </a:p>
          <a:p>
            <a:pPr>
              <a:spcAft>
                <a:spcPts val="700"/>
              </a:spcAft>
              <a:defRPr sz="1500">
                <a:solidFill>
                  <a:srgbClr val="263236"/>
                </a:solidFill>
                <a:latin typeface="Aptos"/>
              </a:defRPr>
            </a:pPr>
            <a:r>
              <a:t>• At the end of the horizon, stock that has not expired is ending stock, not waste.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64592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49440" y="1645920"/>
            <a:ext cx="64008" cy="137160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14031" y="1755648"/>
            <a:ext cx="365760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FEFO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1" y="2121408"/>
            <a:ext cx="3639312" cy="8229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First Expired, First Out: sell the stock with the earliest expiry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38328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3383280"/>
            <a:ext cx="64008" cy="1371600"/>
          </a:xfrm>
          <a:prstGeom prst="rect">
            <a:avLst/>
          </a:prstGeom>
          <a:solidFill>
            <a:srgbClr val="B74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14031" y="3493008"/>
            <a:ext cx="365760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Waste accounting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1" y="3858768"/>
            <a:ext cx="3639312" cy="8229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Expired quantity × unit cost is included as expired-goods cost.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06 •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Demand model and explicit assumptions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400800" cy="4480560"/>
          </a:xfrm>
          <a:prstGeom prst="rect">
            <a:avLst/>
          </a:prstGeom>
          <a:noFill/>
        </p:spPr>
        <p:txBody>
          <a:bodyPr wrap="square" lIns="73152" tIns="18288" rIns="36576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Baseline demand is sampled from a Poisson distribution per product/day.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Weekend factor is 1.15× when day_index % 7 is 5 or 6; otherwise 1.00×.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Freshness factor is 0.90 at ≤1 day remaining, 0.97 at exactly 2 days, otherwise 1.00.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Price factor = (price / base_price) ^ (−price_sensitivity × discount_response).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Discount response defaults to 1.0; dashboard supports 0.5×–1.5×.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These are synthetic assumptions, not estimates trained on real shopper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7373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79" y="1737360"/>
            <a:ext cx="64008" cy="192024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2671" y="1847088"/>
            <a:ext cx="320040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Demand intuition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1" y="2212848"/>
            <a:ext cx="3182112" cy="1371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Lower prices increase modelled demand; stronger response increases that effect.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114800"/>
            <a:ext cx="3474720" cy="8229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1">
                <a:solidFill>
                  <a:srgbClr val="B7443C"/>
                </a:solidFill>
                <a:latin typeface="Aptos"/>
              </a:defRPr>
            </a:pPr>
            <a:r>
              <a:t>No customer-level behavior, substitution, or real POS data is modeled.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07 • POLICY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Pricing policies and threshold settings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029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64008" cy="196596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664207"/>
            <a:ext cx="47548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Policy A — Fixed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29967"/>
            <a:ext cx="4736592" cy="141731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Price = base_price every selling day. This is the baseline with no expiry-aware discount.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029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64008" cy="196596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664207"/>
            <a:ext cx="47548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Policy B — Markdown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029967"/>
            <a:ext cx="4736592" cy="141731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≤2 days remaining: two_day_discount. ≤1 day remaining: one_day_discount. Otherwise no discount.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493776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Important defaults differ by entry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10058400" cy="1188720"/>
          </a:xfrm>
          <a:prstGeom prst="rect">
            <a:avLst/>
          </a:prstGeom>
          <a:noFill/>
        </p:spPr>
        <p:txBody>
          <a:bodyPr wrap="square" lIns="73152" tIns="18288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3236"/>
                </a:solidFill>
                <a:latin typeface="Aptos"/>
              </a:defRPr>
            </a:pPr>
            <a:r>
              <a:t>• simulator.py function defaults: 20% with 2 days left and 40% with 1 day left.</a:t>
            </a:r>
          </a:p>
          <a:p>
            <a:pPr>
              <a:spcAft>
                <a:spcPts val="700"/>
              </a:spcAft>
              <a:defRPr sz="1300">
                <a:solidFill>
                  <a:srgbClr val="263236"/>
                </a:solidFill>
                <a:latin typeface="Aptos"/>
              </a:defRPr>
            </a:pPr>
            <a:r>
              <a:t>• app.py dashboard defaults: 5% with 2 days left and 10% with 1 day left.</a:t>
            </a:r>
          </a:p>
          <a:p>
            <a:pPr>
              <a:spcAft>
                <a:spcPts val="700"/>
              </a:spcAft>
              <a:defRPr sz="1300">
                <a:solidFill>
                  <a:srgbClr val="263236"/>
                </a:solidFill>
                <a:latin typeface="Aptos"/>
              </a:defRPr>
            </a:pPr>
            <a:r>
              <a:t>• Always state the actual settings used for each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08 • STRETCH /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Additional policy: selective markdown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5577840" cy="3474720"/>
          </a:xfrm>
          <a:prstGeom prst="rect">
            <a:avLst/>
          </a:prstGeom>
          <a:noFill/>
        </p:spPr>
        <p:txBody>
          <a:bodyPr wrap="square" lIns="73152" tIns="18288" rIns="36576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3236"/>
                </a:solidFill>
                <a:latin typeface="Aptos"/>
              </a:defRPr>
            </a:pPr>
            <a:r>
              <a:t>• simulator.py accepts policy='selective'.</a:t>
            </a:r>
          </a:p>
          <a:p>
            <a:pPr>
              <a:spcAft>
                <a:spcPts val="700"/>
              </a:spcAft>
              <a:defRPr sz="1500">
                <a:solidFill>
                  <a:srgbClr val="263236"/>
                </a:solidFill>
                <a:latin typeface="Aptos"/>
              </a:defRPr>
            </a:pPr>
            <a:r>
              <a:t>• It checks total stock cover against expected daily demand.</a:t>
            </a:r>
          </a:p>
          <a:p>
            <a:pPr>
              <a:spcAft>
                <a:spcPts val="700"/>
              </a:spcAft>
              <a:defRPr sz="1500">
                <a:solidFill>
                  <a:srgbClr val="263236"/>
                </a:solidFill>
                <a:latin typeface="Aptos"/>
              </a:defRPr>
            </a:pPr>
            <a:r>
              <a:t>• With ≤1 day left and stock cover ≥1, discount is capped at 10%.</a:t>
            </a:r>
          </a:p>
          <a:p>
            <a:pPr>
              <a:spcAft>
                <a:spcPts val="700"/>
              </a:spcAft>
              <a:defRPr sz="1500">
                <a:solidFill>
                  <a:srgbClr val="263236"/>
                </a:solidFill>
                <a:latin typeface="Aptos"/>
              </a:defRPr>
            </a:pPr>
            <a:r>
              <a:t>• With ≤2 days left and stock cover ≥2, discount is capped at 5%.</a:t>
            </a:r>
          </a:p>
          <a:p>
            <a:pPr>
              <a:spcAft>
                <a:spcPts val="700"/>
              </a:spcAft>
              <a:defRPr sz="1500">
                <a:solidFill>
                  <a:srgbClr val="263236"/>
                </a:solidFill>
                <a:latin typeface="Aptos"/>
              </a:defRPr>
            </a:pPr>
            <a:r>
              <a:t>• test_selective.py compares fixed, markdown and selective over seeds 42–51.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37360"/>
            <a:ext cx="4023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20840" y="1737360"/>
            <a:ext cx="64008" cy="146304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85431" y="1847088"/>
            <a:ext cx="374904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Implementation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1" y="2212848"/>
            <a:ext cx="3730752" cy="9144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Present in simulator and experiment script; not offered in the main dashboard's two-policy comparison.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566160"/>
            <a:ext cx="4023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20840" y="3566160"/>
            <a:ext cx="64008" cy="128016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85431" y="3675887"/>
            <a:ext cx="374904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4041648"/>
            <a:ext cx="3730752" cy="73151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Expose policy selection in the dashboard and validate it against matched baselines.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09 • APP.PY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Dashboard: controls, KPIs and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4008" cy="141732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18488"/>
            <a:ext cx="31546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84248"/>
            <a:ext cx="3136392" cy="8686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Seed, 7–30 days, two markdown thresholds, response strength.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508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508760"/>
            <a:ext cx="64008" cy="141732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1618488"/>
            <a:ext cx="31546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1984248"/>
            <a:ext cx="3136392" cy="8686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Markdown profit, units wasted, waste reduction and margin.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08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1508760"/>
            <a:ext cx="64008" cy="141732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85632" y="1618488"/>
            <a:ext cx="31546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1984248"/>
            <a:ext cx="3136392" cy="8686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Fixed vs markdown revenue, profit, margin and waste.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337560"/>
            <a:ext cx="64008" cy="141732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447288"/>
            <a:ext cx="31546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Daily 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813048"/>
            <a:ext cx="3136392" cy="8686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Revenue line, profit line and grouped expired-unit bars.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26280" y="3337560"/>
            <a:ext cx="64008" cy="141732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90872" y="3447288"/>
            <a:ext cx="31546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Event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3813048"/>
            <a:ext cx="3136392" cy="8686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Filter by product and policy; export visible events to CSV.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21040" y="3337560"/>
            <a:ext cx="64008" cy="141732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85632" y="3447288"/>
            <a:ext cx="31546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Assumptions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3813048"/>
            <a:ext cx="3136392" cy="8686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Expandable synthetic-data and limitation notes.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10 • APP.PY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Inventory upload and monitoring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760720" cy="4206240"/>
          </a:xfrm>
          <a:prstGeom prst="rect">
            <a:avLst/>
          </a:prstGeom>
          <a:noFill/>
        </p:spPr>
        <p:txBody>
          <a:bodyPr wrap="square" lIns="73152" tIns="18288" rIns="36576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Accepts a CSV snapshot with product, batch_id, quantity, expiry_date, unit_cost and base_price.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Normalizes column names and validates required fields.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Rejects duplicate batch IDs within the uploaded snapshot.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Checks non-negative whole-number quantities, non-negative prices/costs and valid expiry dates.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Uploading replaces the current snapshot; it does not add to the previous snapshot.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Archives the old snapshot and the new upload in data/inventory_upload_history/.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691640"/>
            <a:ext cx="3886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49440" y="1691640"/>
            <a:ext cx="64008" cy="137160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14031" y="1801368"/>
            <a:ext cx="36118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Inventory indicators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1" y="2167128"/>
            <a:ext cx="3593592" cy="8229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Batch count, units in stock, expired units, units expiring within 2 days and expiry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429000"/>
            <a:ext cx="3886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3429000"/>
            <a:ext cx="64008" cy="1371600"/>
          </a:xfrm>
          <a:prstGeom prst="rect">
            <a:avLst/>
          </a:prstGeom>
          <a:solidFill>
            <a:srgbClr val="B74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14031" y="3538728"/>
            <a:ext cx="36118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Integration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1" y="3904487"/>
            <a:ext cx="3593592" cy="8229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This upload tracker is not yet connected to the simulator's generated batch inventory.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11 • STORE.PY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Shopper-facing FreshMart storefront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577840" cy="4023360"/>
          </a:xfrm>
          <a:prstGeom prst="rect">
            <a:avLst/>
          </a:prstGeom>
          <a:noFill/>
        </p:spPr>
        <p:txBody>
          <a:bodyPr wrap="square" lIns="73152" tIns="18288" rIns="36576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3236"/>
                </a:solidFill>
                <a:latin typeface="Aptos"/>
              </a:defRPr>
            </a:pPr>
            <a:r>
              <a:t>• Separate Streamlit app with product cards and category labels.</a:t>
            </a:r>
          </a:p>
          <a:p>
            <a:pPr>
              <a:spcAft>
                <a:spcPts val="700"/>
              </a:spcAft>
              <a:defRPr sz="1500">
                <a:solidFill>
                  <a:srgbClr val="263236"/>
                </a:solidFill>
                <a:latin typeface="Aptos"/>
              </a:defRPr>
            </a:pPr>
            <a:r>
              <a:t>• Search by product name; filter by category or deals only.</a:t>
            </a:r>
          </a:p>
          <a:p>
            <a:pPr>
              <a:spcAft>
                <a:spcPts val="700"/>
              </a:spcAft>
              <a:defRPr sz="1500">
                <a:solidFill>
                  <a:srgbClr val="263236"/>
                </a:solidFill>
                <a:latin typeface="Aptos"/>
              </a:defRPr>
            </a:pPr>
            <a:r>
              <a:t>• Session-based cart supports add, remove and clear actions.</a:t>
            </a:r>
          </a:p>
          <a:p>
            <a:pPr>
              <a:spcAft>
                <a:spcPts val="700"/>
              </a:spcAft>
              <a:defRPr sz="1500">
                <a:solidFill>
                  <a:srgbClr val="263236"/>
                </a:solidFill>
                <a:latin typeface="Aptos"/>
              </a:defRPr>
            </a:pPr>
            <a:r>
              <a:t>• Demo checkout confirms an order without collecting payment.</a:t>
            </a:r>
          </a:p>
          <a:p>
            <a:pPr>
              <a:spcAft>
                <a:spcPts val="700"/>
              </a:spcAft>
              <a:defRPr sz="1500">
                <a:solidFill>
                  <a:srgbClr val="263236"/>
                </a:solidFill>
                <a:latin typeface="Aptos"/>
              </a:defRPr>
            </a:pPr>
            <a:r>
              <a:t>• Current deal rule uses catalogue shelf life: 5% off if shelf life ≤2 days; 10% off if ≤1 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691640"/>
            <a:ext cx="40690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0" y="1691640"/>
            <a:ext cx="64008" cy="1463040"/>
          </a:xfrm>
          <a:prstGeom prst="rect">
            <a:avLst/>
          </a:prstGeom>
          <a:solidFill>
            <a:srgbClr val="B74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39712" y="1801368"/>
            <a:ext cx="379476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Critical caveat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712" y="2167128"/>
            <a:ext cx="3776472" cy="9144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Deals are illustrative. They are not linked to live stock quantities, batch expiry dates or simulation events.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566160"/>
            <a:ext cx="4069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75120" y="3566160"/>
            <a:ext cx="64008" cy="128016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39712" y="3675887"/>
            <a:ext cx="379476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Recommended enhancement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4041648"/>
            <a:ext cx="3776472" cy="73151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Generate today's deals from the latest simulation/inventory snapshot.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12 •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Discount grid search and policy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6217920" cy="4206240"/>
          </a:xfrm>
          <a:prstGeom prst="rect">
            <a:avLst/>
          </a:prstGeom>
          <a:noFill/>
        </p:spPr>
        <p:txBody>
          <a:bodyPr wrap="square" lIns="73152" tIns="18288" rIns="36576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Tests two-day discounts: 5%, 10%, 15%, 20%.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Tests one-day discounts: 10%, 20%, 30%, 40%, 50%.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Skips combinations where the one-day discount is below the two-day discount.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Runs each candidate across seeds 42–51.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Aggregates profit, waste, revenue and margin into policy_comparison.csv.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select_policy.py ranks average profit first, then lower waste.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73736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06640" y="1737360"/>
            <a:ext cx="64008" cy="150876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71231" y="1847088"/>
            <a:ext cx="320040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Objective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1" y="2212848"/>
            <a:ext cx="3182112" cy="96011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Profit-first ranking with waste as tie-breaker.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6576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0" y="3657600"/>
            <a:ext cx="64008" cy="1508760"/>
          </a:xfrm>
          <a:prstGeom prst="rect">
            <a:avLst/>
          </a:prstGeom>
          <a:solidFill>
            <a:srgbClr val="B74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71231" y="3767328"/>
            <a:ext cx="320040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Not yet implemented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4133087"/>
            <a:ext cx="3182112" cy="96011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Category-specific schedules and a formal multi-objective/Pareto optimizer.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13 • DATA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Data assets included in the ZIP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17320"/>
          <a:ext cx="107899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6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162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 shape</a:t>
                      </a:r>
                    </a:p>
                  </a:txBody>
                  <a:tcPr>
                    <a:solidFill>
                      <a:srgbClr val="162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62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products.csv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20 rows × 7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Catalogue for simulator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daily_fixed.csv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30 rows × 5 columns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Example daily fixed-price run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daily_markdown.csv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30 rows × 5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Example daily markdown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events_fixed.csv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929 rows × 6 columns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Arrival, sale and expiry events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events_markdown.csv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1,036 rows × 6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Arrival, sale and expiry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policy_comparison.csv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19 rows × 9 columns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Aggregated grid-search results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synthetic_grocery_inventory.csv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3,000 rows × 13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Separate synthetic inventory/demand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current_inventory.csv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5 rows × 7 columns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Example inventory snapshot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daily_stock.csv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5 rows × 6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CSV upload example/template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14 • SYNTHETIC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Results from supplied policy_comparison.csv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50876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62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2d off</a:t>
                      </a:r>
                    </a:p>
                  </a:txBody>
                  <a:tcPr>
                    <a:solidFill>
                      <a:srgbClr val="162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1d off</a:t>
                      </a:r>
                    </a:p>
                  </a:txBody>
                  <a:tcPr>
                    <a:solidFill>
                      <a:srgbClr val="162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Avg. profit</a:t>
                      </a:r>
                    </a:p>
                  </a:txBody>
                  <a:tcPr>
                    <a:solidFill>
                      <a:srgbClr val="162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Avg. waste</a:t>
                      </a:r>
                    </a:p>
                  </a:txBody>
                  <a:tcPr>
                    <a:solidFill>
                      <a:srgbClr val="162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Avg. revenue</a:t>
                      </a:r>
                    </a:p>
                  </a:txBody>
                  <a:tcPr>
                    <a:solidFill>
                      <a:srgbClr val="162D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Avg. margin</a:t>
                      </a:r>
                    </a:p>
                  </a:txBody>
                  <a:tcPr>
                    <a:solidFill>
                      <a:srgbClr val="162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Fixed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₹55,680.10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127.5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₹150,964.30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36.88%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Markdown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₹55,082.02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60.1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₹150,871.82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36.51%</a:t>
                      </a:r>
                    </a:p>
                  </a:txBody>
                  <a:tcPr>
                    <a:solidFill>
                      <a:srgbClr val="EE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Markdown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₹48,184.74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₹144,449.94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6"/>
                          </a:solidFill>
                          <a:latin typeface="Aptos"/>
                        </a:defRPr>
                      </a:pPr>
                      <a:r>
                        <a:t>33.35%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406908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4069080"/>
            <a:ext cx="64008" cy="114300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4178808"/>
            <a:ext cx="310896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5% / 10%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544568"/>
            <a:ext cx="3090672" cy="5943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Waste reduction: 52.86%</a:t>
            </a:r>
            <a:br/>
            <a:r>
              <a:t>Profit change: -1.07%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06908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4069080"/>
            <a:ext cx="64008" cy="114300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4178808"/>
            <a:ext cx="310896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20% / 50%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4544568"/>
            <a:ext cx="3090672" cy="5943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Waste reduction: 98.67%</a:t>
            </a:r>
            <a:br/>
            <a:r>
              <a:t>Profit change: -13.46%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06908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4069080"/>
            <a:ext cx="64008" cy="1143000"/>
          </a:xfrm>
          <a:prstGeom prst="rect">
            <a:avLst/>
          </a:prstGeom>
          <a:solidFill>
            <a:srgbClr val="B74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4178808"/>
            <a:ext cx="310896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4544568"/>
            <a:ext cx="3090672" cy="5943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Lower waste comes with lower profit and margin in these synthetic runs.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15 •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KPI definitions and accounting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64008" cy="137160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64207"/>
            <a:ext cx="31546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29967"/>
            <a:ext cx="3136392" cy="8229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Sum of sold units × selling price.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55448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554480"/>
            <a:ext cx="64008" cy="137160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1664207"/>
            <a:ext cx="31546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Gross simulation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029967"/>
            <a:ext cx="3136392" cy="8229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Revenue − cost of sold goods − cost of expired goods.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5448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1554480"/>
            <a:ext cx="64008" cy="137160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85632" y="1664207"/>
            <a:ext cx="31546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029967"/>
            <a:ext cx="3136392" cy="8229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Gross simulation profit ÷ revenue × 100.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8328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383280"/>
            <a:ext cx="64008" cy="137160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493008"/>
            <a:ext cx="31546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Units wasted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858768"/>
            <a:ext cx="3136392" cy="8229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Units removed from stock after expiry.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38328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26280" y="3383280"/>
            <a:ext cx="64008" cy="137160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90872" y="3493008"/>
            <a:ext cx="31546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Ending stock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3858768"/>
            <a:ext cx="3136392" cy="8229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Units remaining at horizon end that have not yet expired.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38328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21040" y="3383280"/>
            <a:ext cx="64008" cy="137160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85632" y="3493008"/>
            <a:ext cx="31546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Waste reduction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3858768"/>
            <a:ext cx="3136392" cy="8229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(fixed waste − markdown waste) ÷ fixed waste × 100.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16 •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README assumptions: what must be documented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515600" cy="4663440"/>
          </a:xfrm>
          <a:prstGeom prst="rect">
            <a:avLst/>
          </a:prstGeom>
          <a:noFill/>
        </p:spPr>
        <p:txBody>
          <a:bodyPr wrap="square" lIns="73152" tIns="18288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3236"/>
                </a:solidFill>
                <a:latin typeface="Aptos"/>
              </a:defRPr>
            </a:pPr>
            <a:r>
              <a:t>• Synthetic 20-product catalogue; base price, unit cost, shelf life, demand and sensitivity are predefined.</a:t>
            </a:r>
          </a:p>
          <a:p>
            <a:pPr>
              <a:spcAft>
                <a:spcPts val="700"/>
              </a:spcAft>
              <a:defRPr sz="1300">
                <a:solidFill>
                  <a:srgbClr val="263236"/>
                </a:solidFill>
                <a:latin typeface="Aptos"/>
              </a:defRPr>
            </a:pPr>
            <a:r>
              <a:t>• One store; 30 days by default; dashboard allows 7–30 days.</a:t>
            </a:r>
          </a:p>
          <a:p>
            <a:pPr>
              <a:spcAft>
                <a:spcPts val="700"/>
              </a:spcAft>
              <a:defRPr sz="1300">
                <a:solidFill>
                  <a:srgbClr val="263236"/>
                </a:solidFill>
                <a:latin typeface="Aptos"/>
              </a:defRPr>
            </a:pPr>
            <a:r>
              <a:t>• Replenishment every two days; batch size sampled around two days of average demand.</a:t>
            </a:r>
          </a:p>
          <a:p>
            <a:pPr>
              <a:spcAft>
                <a:spcPts val="700"/>
              </a:spcAft>
              <a:defRPr sz="1300">
                <a:solidFill>
                  <a:srgbClr val="263236"/>
                </a:solidFill>
                <a:latin typeface="Aptos"/>
              </a:defRPr>
            </a:pPr>
            <a:r>
              <a:t>• Poisson baseline demand; synthetic weekend and freshness multipliers.</a:t>
            </a:r>
          </a:p>
          <a:p>
            <a:pPr>
              <a:spcAft>
                <a:spcPts val="700"/>
              </a:spcAft>
              <a:defRPr sz="1300">
                <a:solidFill>
                  <a:srgbClr val="263236"/>
                </a:solidFill>
                <a:latin typeface="Aptos"/>
              </a:defRPr>
            </a:pPr>
            <a:r>
              <a:t>• Price-elasticity exponent uses product sensitivity × shopper response strength.</a:t>
            </a:r>
          </a:p>
          <a:p>
            <a:pPr>
              <a:spcAft>
                <a:spcPts val="700"/>
              </a:spcAft>
              <a:defRPr sz="1300">
                <a:solidFill>
                  <a:srgbClr val="263236"/>
                </a:solidFill>
                <a:latin typeface="Aptos"/>
              </a:defRPr>
            </a:pPr>
            <a:r>
              <a:t>• FEFO selling; expired batches removed before sales on expiry day.</a:t>
            </a:r>
          </a:p>
          <a:p>
            <a:pPr>
              <a:spcAft>
                <a:spcPts val="700"/>
              </a:spcAft>
              <a:defRPr sz="1300">
                <a:solidFill>
                  <a:srgbClr val="263236"/>
                </a:solidFill>
                <a:latin typeface="Aptos"/>
              </a:defRPr>
            </a:pPr>
            <a:r>
              <a:t>• Record both the simulator function defaults (20% / 40%) and dashboard defaults (5% / 10%).</a:t>
            </a:r>
          </a:p>
          <a:p>
            <a:pPr>
              <a:spcAft>
                <a:spcPts val="700"/>
              </a:spcAft>
              <a:defRPr sz="1300">
                <a:solidFill>
                  <a:srgbClr val="263236"/>
                </a:solidFill>
                <a:latin typeface="Aptos"/>
              </a:defRPr>
            </a:pPr>
            <a:r>
              <a:t>• Report seed(s), horizon, thresholds and whether results are one run or a multi-seed average.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17 •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Stretch goals: status and implementation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4008" cy="164592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18488"/>
            <a:ext cx="320040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Category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84248"/>
            <a:ext cx="3182112" cy="10972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Not yet implemented. Optimize separate discount schedules for Dairy, Bakery, Produce and Ready-to-eat.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64008" cy="1645920"/>
          </a:xfrm>
          <a:prstGeom prst="rect">
            <a:avLst/>
          </a:prstGeom>
          <a:solidFill>
            <a:srgbClr val="E58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618488"/>
            <a:ext cx="320040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Sensitivity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984248"/>
            <a:ext cx="3182112" cy="10972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Slider exists; add a direct side-by-side report for 1.0× vs 0.5× across matched seeds.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64008" cy="164592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618488"/>
            <a:ext cx="320040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Today's deals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84248"/>
            <a:ext cx="3182112" cy="10972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Storefront exists; connect deals to current stock and actual expiry events.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1033272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700" b="1">
                <a:solidFill>
                  <a:srgbClr val="162D38"/>
                </a:solidFill>
                <a:latin typeface="Aptos"/>
              </a:defRPr>
            </a:pPr>
            <a:r>
              <a:t>Suggested priority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51960"/>
            <a:ext cx="10149840" cy="1371600"/>
          </a:xfrm>
          <a:prstGeom prst="rect">
            <a:avLst/>
          </a:prstGeom>
          <a:noFill/>
        </p:spPr>
        <p:txBody>
          <a:bodyPr wrap="square" lIns="73152" tIns="18288" rIns="36576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First: integrate live-style inventory/events with storefront prices.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Second: paired sensitivity experiment and category-wise optimizer.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Third: add formal unit tests and persistence for deployed multi-user use.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1">
                <a:solidFill>
                  <a:srgbClr val="227553"/>
                </a:solidFill>
                <a:latin typeface="Aptos"/>
              </a:defRPr>
            </a:pPr>
            <a:r>
              <a:t>18 • BEFORE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162D38"/>
                </a:solidFill>
                <a:latin typeface="Aptos"/>
              </a:defRPr>
            </a:pPr>
            <a:r>
              <a:t>Limitations and validation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60120" cy="50292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800" b="0">
                <a:solidFill>
                  <a:srgbClr val="606E70"/>
                </a:solidFill>
                <a:latin typeface="Aptos"/>
              </a:defRPr>
            </a:pPr>
            <a:r>
              <a:t>SMARTMARKDOWN AI • FULL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900" b="1">
                <a:solidFill>
                  <a:srgbClr val="606E70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5029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08760"/>
            <a:ext cx="64008" cy="1920240"/>
          </a:xfrm>
          <a:prstGeom prst="rect">
            <a:avLst/>
          </a:prstGeom>
          <a:solidFill>
            <a:srgbClr val="B74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618488"/>
            <a:ext cx="47548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Known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84248"/>
            <a:ext cx="4736592" cy="1371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Synthetic data; simplified demand; no product substitution; no real POS; inventory upload not integrated with simulation; storefront discounts illustrative; no operating overhead.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029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64008" cy="1920240"/>
          </a:xfrm>
          <a:prstGeom prst="rect">
            <a:avLst/>
          </a:prstGeom>
          <a:solidFill>
            <a:srgbClr val="2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1618488"/>
            <a:ext cx="475488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162D38"/>
                </a:solidFill>
                <a:latin typeface="Aptos"/>
              </a:defRPr>
            </a:pPr>
            <a:r>
              <a:t>Validate before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984248"/>
            <a:ext cx="4736592" cy="1371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0">
                <a:solidFill>
                  <a:srgbClr val="263236"/>
                </a:solidFill>
                <a:latin typeface="Aptos"/>
              </a:defRPr>
            </a:pPr>
            <a:r>
              <a:t>Run 30 days with seed 42; verify both policies use same seed; confirm KPI accounting; inspect event export; try 0.5× response; state actual discount thresholds.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31920"/>
            <a:ext cx="1024128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700" b="1">
                <a:solidFill>
                  <a:srgbClr val="162D38"/>
                </a:solidFill>
                <a:latin typeface="Aptos"/>
              </a:defRPr>
            </a:pPr>
            <a:r>
              <a:t>Live demo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10058400" cy="1280160"/>
          </a:xfrm>
          <a:prstGeom prst="rect">
            <a:avLst/>
          </a:prstGeom>
          <a:noFill/>
        </p:spPr>
        <p:txBody>
          <a:bodyPr wrap="square" lIns="73152" tIns="18288" rIns="36576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Run comparison → explain KPI trade-off → show daily charts.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Filter one product in event history → download CSV.</a:t>
            </a:r>
          </a:p>
          <a:p>
            <a:pPr>
              <a:spcAft>
                <a:spcPts val="700"/>
              </a:spcAft>
              <a:defRPr sz="1400">
                <a:solidFill>
                  <a:srgbClr val="263236"/>
                </a:solidFill>
                <a:latin typeface="Aptos"/>
              </a:defRPr>
            </a:pPr>
            <a:r>
              <a:t>• Change discount threshold and shopper response → rerun and compare.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73152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200" b="1">
                <a:solidFill>
                  <a:srgbClr val="98D6AD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241280" cy="7772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A transparent sandbox for smarter perishable pricing.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9875520" cy="2286000"/>
          </a:xfrm>
          <a:prstGeom prst="rect">
            <a:avLst/>
          </a:prstGeom>
          <a:noFill/>
        </p:spPr>
        <p:txBody>
          <a:bodyPr wrap="square" lIns="73152" tIns="18288" rIns="36576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5EFE8"/>
                </a:solidFill>
                <a:latin typeface="Aptos"/>
              </a:defRPr>
            </a:pPr>
            <a:r>
              <a:t>• The uploaded project includes a reproducible inventory simulation, two core policies and a dashboard.</a:t>
            </a:r>
          </a:p>
          <a:p>
            <a:pPr>
              <a:spcAft>
                <a:spcPts val="700"/>
              </a:spcAft>
              <a:defRPr sz="1700">
                <a:solidFill>
                  <a:srgbClr val="E5EFE8"/>
                </a:solidFill>
                <a:latin typeface="Aptos"/>
              </a:defRPr>
            </a:pPr>
            <a:r>
              <a:t>• Policy results show a measurable trade-off between waste reduction and profit.</a:t>
            </a:r>
          </a:p>
          <a:p>
            <a:pPr>
              <a:spcAft>
                <a:spcPts val="700"/>
              </a:spcAft>
              <a:defRPr sz="1700">
                <a:solidFill>
                  <a:srgbClr val="E5EFE8"/>
                </a:solidFill>
                <a:latin typeface="Aptos"/>
              </a:defRPr>
            </a:pPr>
            <a:r>
              <a:t>• Inventory upload and shopper storefront are present but not yet integrated with the simulation engine.</a:t>
            </a:r>
          </a:p>
          <a:p>
            <a:pPr>
              <a:spcAft>
                <a:spcPts val="700"/>
              </a:spcAft>
              <a:defRPr sz="1700">
                <a:solidFill>
                  <a:srgbClr val="E5EFE8"/>
                </a:solidFill>
                <a:latin typeface="Aptos"/>
              </a:defRPr>
            </a:pPr>
            <a:r>
              <a:t>• Next: category-aware optimization, paired sensitivity analysis, real inventory integration and automated tests.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5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97D"/>
                </a:solidFill>
                <a:latin typeface="Aptos"/>
              </a:defRPr>
            </a:pPr>
            <a:r>
              <a:t>SmartMarkdown AI — module-level view grounded in the repository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971800" cy="960120"/>
          </a:xfrm>
          <a:prstGeom prst="roundRect">
            <a:avLst/>
          </a:prstGeom>
          <a:solidFill>
            <a:srgbClr val="E7F0FC"/>
          </a:solidFill>
          <a:ln w="17780">
            <a:solidFill>
              <a:srgbClr val="2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400" b="1">
                <a:solidFill>
                  <a:srgbClr val="162745"/>
                </a:solidFill>
                <a:latin typeface="Aptos"/>
              </a:defRPr>
            </a:pPr>
            <a:r>
              <a:t>Operations Dashboard · app.py</a:t>
            </a:r>
          </a:p>
          <a:p>
            <a:pPr algn="ctr">
              <a:spcBef>
                <a:spcPts val="500"/>
              </a:spcBef>
              <a:defRPr sz="950">
                <a:solidFill>
                  <a:srgbClr val="283343"/>
                </a:solidFill>
                <a:latin typeface="Aptos"/>
              </a:defRPr>
            </a:pPr>
            <a:r>
              <a:t>Policy controls • KPI cards • daily charts</a:t>
            </a:r>
            <a:br/>
            <a:r>
              <a:t>Event filters/export • inventory upload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325880"/>
            <a:ext cx="2971800" cy="960120"/>
          </a:xfrm>
          <a:prstGeom prst="roundRect">
            <a:avLst/>
          </a:prstGeom>
          <a:solidFill>
            <a:srgbClr val="E0F5F2"/>
          </a:solidFill>
          <a:ln w="17780">
            <a:solidFill>
              <a:srgbClr val="14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400" b="1">
                <a:solidFill>
                  <a:srgbClr val="162745"/>
                </a:solidFill>
                <a:latin typeface="Aptos"/>
              </a:defRPr>
            </a:pPr>
            <a:r>
              <a:t>Shopper Demo · store.py</a:t>
            </a:r>
          </a:p>
          <a:p>
            <a:pPr algn="ctr">
              <a:spcBef>
                <a:spcPts val="500"/>
              </a:spcBef>
              <a:defRPr sz="950">
                <a:solidFill>
                  <a:srgbClr val="283343"/>
                </a:solidFill>
                <a:latin typeface="Aptos"/>
              </a:defRPr>
            </a:pPr>
            <a:r>
              <a:t>Product search • categories • deal filter</a:t>
            </a:r>
            <a:br/>
            <a:r>
              <a:t>Cart • illustrative checkout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325880"/>
            <a:ext cx="2880360" cy="960120"/>
          </a:xfrm>
          <a:prstGeom prst="roundRect">
            <a:avLst/>
          </a:prstGeom>
          <a:solidFill>
            <a:srgbClr val="FFF5DC"/>
          </a:solidFill>
          <a:ln w="17780">
            <a:solidFill>
              <a:srgbClr val="CF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400" b="1">
                <a:solidFill>
                  <a:srgbClr val="162745"/>
                </a:solidFill>
                <a:latin typeface="Aptos"/>
              </a:defRPr>
            </a:pPr>
            <a:r>
              <a:t>Input Data</a:t>
            </a:r>
          </a:p>
          <a:p>
            <a:pPr algn="ctr">
              <a:spcBef>
                <a:spcPts val="500"/>
              </a:spcBef>
              <a:defRPr sz="950">
                <a:solidFill>
                  <a:srgbClr val="283343"/>
                </a:solidFill>
                <a:latin typeface="Aptos"/>
              </a:defRPr>
            </a:pPr>
            <a:r>
              <a:t>products.csv • uploaded inventory CSV</a:t>
            </a:r>
            <a:br/>
            <a:r>
              <a:t>Synthetic inventory / daily stock samples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3063240"/>
            <a:ext cx="3246120" cy="1097280"/>
          </a:xfrm>
          <a:prstGeom prst="roundRect">
            <a:avLst/>
          </a:prstGeom>
          <a:solidFill>
            <a:srgbClr val="E7F0FC"/>
          </a:solidFill>
          <a:ln w="17780">
            <a:solidFill>
              <a:srgbClr val="2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400" b="1">
                <a:solidFill>
                  <a:srgbClr val="162745"/>
                </a:solidFill>
                <a:latin typeface="Aptos"/>
              </a:defRPr>
            </a:pPr>
            <a:r>
              <a:t>Simulation Engine · simulator.py</a:t>
            </a:r>
          </a:p>
          <a:p>
            <a:pPr algn="ctr">
              <a:spcBef>
                <a:spcPts val="500"/>
              </a:spcBef>
              <a:defRPr sz="950">
                <a:solidFill>
                  <a:srgbClr val="283343"/>
                </a:solidFill>
                <a:latin typeface="Aptos"/>
              </a:defRPr>
            </a:pPr>
            <a:r>
              <a:t>Inventory batches • demand model • FEFO selling</a:t>
            </a:r>
            <a:br/>
            <a:r>
              <a:t>Expiry / markdown policies • accounting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3063240"/>
            <a:ext cx="3246120" cy="1097280"/>
          </a:xfrm>
          <a:prstGeom prst="roundRect">
            <a:avLst/>
          </a:prstGeom>
          <a:solidFill>
            <a:srgbClr val="E0F5F2"/>
          </a:solidFill>
          <a:ln w="17780">
            <a:solidFill>
              <a:srgbClr val="14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400" b="1">
                <a:solidFill>
                  <a:srgbClr val="162745"/>
                </a:solidFill>
                <a:latin typeface="Aptos"/>
              </a:defRPr>
            </a:pPr>
            <a:r>
              <a:t>Policy Evaluation</a:t>
            </a:r>
          </a:p>
          <a:p>
            <a:pPr algn="ctr">
              <a:spcBef>
                <a:spcPts val="500"/>
              </a:spcBef>
              <a:defRPr sz="950">
                <a:solidFill>
                  <a:srgbClr val="283343"/>
                </a:solidFill>
                <a:latin typeface="Aptos"/>
              </a:defRPr>
            </a:pPr>
            <a:r>
              <a:t>select_policy.py • test_selective.py</a:t>
            </a:r>
            <a:br/>
            <a:r>
              <a:t>Discount-grid comparison / selective-policy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983480"/>
            <a:ext cx="3063240" cy="914400"/>
          </a:xfrm>
          <a:prstGeom prst="roundRect">
            <a:avLst/>
          </a:prstGeom>
          <a:solidFill>
            <a:srgbClr val="F3F6FA"/>
          </a:solidFill>
          <a:ln w="17780">
            <a:solidFill>
              <a:srgbClr val="5B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62745"/>
                </a:solidFill>
                <a:latin typeface="Aptos"/>
              </a:defRPr>
            </a:pPr>
            <a:r>
              <a:t>Simulation Outputs</a:t>
            </a:r>
          </a:p>
          <a:p>
            <a:pPr algn="ctr">
              <a:spcBef>
                <a:spcPts val="500"/>
              </a:spcBef>
              <a:defRPr sz="900">
                <a:solidFill>
                  <a:srgbClr val="283343"/>
                </a:solidFill>
                <a:latin typeface="Aptos"/>
              </a:defRPr>
            </a:pPr>
            <a:r>
              <a:t>daily_fixed.csv • daily_markdown.csv</a:t>
            </a:r>
            <a:br/>
            <a:r>
              <a:t> events_fixed.csv • events_markdown.csv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4983480"/>
            <a:ext cx="3063240" cy="914400"/>
          </a:xfrm>
          <a:prstGeom prst="roundRect">
            <a:avLst/>
          </a:prstGeom>
          <a:solidFill>
            <a:srgbClr val="F3F6FA"/>
          </a:solidFill>
          <a:ln w="17780">
            <a:solidFill>
              <a:srgbClr val="5B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62745"/>
                </a:solidFill>
                <a:latin typeface="Aptos"/>
              </a:defRPr>
            </a:pPr>
            <a:r>
              <a:t>Comparison Results</a:t>
            </a:r>
          </a:p>
          <a:p>
            <a:pPr algn="ctr">
              <a:spcBef>
                <a:spcPts val="500"/>
              </a:spcBef>
              <a:defRPr sz="900">
                <a:solidFill>
                  <a:srgbClr val="283343"/>
                </a:solidFill>
                <a:latin typeface="Aptos"/>
              </a:defRPr>
            </a:pPr>
            <a:r>
              <a:t>policy_comparison.csv</a:t>
            </a:r>
            <a:br/>
            <a:r>
              <a:t>Profit • waste • revenue • margin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4983480"/>
            <a:ext cx="3063240" cy="914400"/>
          </a:xfrm>
          <a:prstGeom prst="roundRect">
            <a:avLst/>
          </a:prstGeom>
          <a:solidFill>
            <a:srgbClr val="F3F6FA"/>
          </a:solidFill>
          <a:ln w="17780">
            <a:solidFill>
              <a:srgbClr val="5B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62745"/>
                </a:solidFill>
                <a:latin typeface="Aptos"/>
              </a:defRPr>
            </a:pPr>
            <a:r>
              <a:t>History / Export</a:t>
            </a:r>
          </a:p>
          <a:p>
            <a:pPr algn="ctr">
              <a:spcBef>
                <a:spcPts val="500"/>
              </a:spcBef>
              <a:defRPr sz="900">
                <a:solidFill>
                  <a:srgbClr val="283343"/>
                </a:solidFill>
                <a:latin typeface="Aptos"/>
              </a:defRPr>
            </a:pPr>
            <a:r>
              <a:t>Archived inventory uploads</a:t>
            </a:r>
            <a:br/>
            <a:r>
              <a:t>Dashboard event and CSV exports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57400" y="2286000"/>
            <a:ext cx="1188720" cy="777240"/>
          </a:xfrm>
          <a:prstGeom prst="line">
            <a:avLst/>
          </a:prstGeom>
          <a:ln w="22860">
            <a:solidFill>
              <a:srgbClr val="2F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526280" y="2286000"/>
            <a:ext cx="1554480" cy="777240"/>
          </a:xfrm>
          <a:prstGeom prst="line">
            <a:avLst/>
          </a:prstGeom>
          <a:ln w="22860">
            <a:solidFill>
              <a:srgbClr val="148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120640" y="2286000"/>
            <a:ext cx="4892040" cy="777240"/>
          </a:xfrm>
          <a:prstGeom prst="line">
            <a:avLst/>
          </a:prstGeom>
          <a:ln w="22860">
            <a:solidFill>
              <a:srgbClr val="CF9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86400" y="3611880"/>
            <a:ext cx="1143000" cy="0"/>
          </a:xfrm>
          <a:prstGeom prst="line">
            <a:avLst/>
          </a:prstGeom>
          <a:ln w="22860">
            <a:solidFill>
              <a:srgbClr val="5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240280" y="4160520"/>
            <a:ext cx="1051560" cy="822960"/>
          </a:xfrm>
          <a:prstGeom prst="line">
            <a:avLst/>
          </a:prstGeom>
          <a:ln w="22860">
            <a:solidFill>
              <a:srgbClr val="2F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4160520"/>
            <a:ext cx="1508760" cy="822960"/>
          </a:xfrm>
          <a:prstGeom prst="line">
            <a:avLst/>
          </a:prstGeom>
          <a:ln w="22860">
            <a:solidFill>
              <a:srgbClr val="148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29600" y="4160520"/>
            <a:ext cx="1737360" cy="822960"/>
          </a:xfrm>
          <a:prstGeom prst="line">
            <a:avLst/>
          </a:prstGeom>
          <a:ln w="22860">
            <a:solidFill>
              <a:srgbClr val="5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5"/>
                </a:solidFill>
                <a:latin typeface="Aptos Display"/>
              </a:defRPr>
            </a:pPr>
            <a:r>
              <a:t>End-to-End Simulation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97D"/>
                </a:solidFill>
                <a:latin typeface="Aptos"/>
              </a:defRPr>
            </a:pPr>
            <a:r>
              <a:t>Operational flow for comparing fixed-price selling with a markdown policy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325880"/>
            <a:ext cx="2057400" cy="713232"/>
          </a:xfrm>
          <a:prstGeom prst="ellipse">
            <a:avLst/>
          </a:prstGeom>
          <a:solidFill>
            <a:srgbClr val="E0F5F2"/>
          </a:solidFill>
          <a:ln w="17780">
            <a:solidFill>
              <a:srgbClr val="14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400" b="1">
                <a:solidFill>
                  <a:srgbClr val="162745"/>
                </a:solidFill>
                <a:latin typeface="Aptos"/>
              </a:defRPr>
            </a:pPr>
            <a:r>
              <a:t>Start</a:t>
            </a:r>
          </a:p>
          <a:p>
            <a:pPr algn="ctr">
              <a:spcBef>
                <a:spcPts val="500"/>
              </a:spcBef>
              <a:defRPr sz="900">
                <a:solidFill>
                  <a:srgbClr val="283343"/>
                </a:solidFill>
                <a:latin typeface="Aptos"/>
              </a:defRPr>
            </a:pPr>
            <a:r>
              <a:t>Launch Streamlit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325880"/>
            <a:ext cx="2331720" cy="713232"/>
          </a:xfrm>
          <a:prstGeom prst="roundRect">
            <a:avLst/>
          </a:prstGeom>
          <a:solidFill>
            <a:srgbClr val="E7F0FC"/>
          </a:solidFill>
          <a:ln w="17780">
            <a:solidFill>
              <a:srgbClr val="2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300" b="1">
                <a:solidFill>
                  <a:srgbClr val="162745"/>
                </a:solidFill>
                <a:latin typeface="Aptos"/>
              </a:defRPr>
            </a:pPr>
            <a:r>
              <a:t>Load Inputs</a:t>
            </a:r>
          </a:p>
          <a:p>
            <a:pPr algn="ctr">
              <a:spcBef>
                <a:spcPts val="500"/>
              </a:spcBef>
              <a:defRPr sz="900">
                <a:solidFill>
                  <a:srgbClr val="283343"/>
                </a:solidFill>
                <a:latin typeface="Aptos"/>
              </a:defRPr>
            </a:pPr>
            <a:r>
              <a:t>Products, inventory, parameters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325880"/>
            <a:ext cx="2331720" cy="713232"/>
          </a:xfrm>
          <a:prstGeom prst="roundRect">
            <a:avLst/>
          </a:prstGeom>
          <a:solidFill>
            <a:srgbClr val="E7F0FC"/>
          </a:solidFill>
          <a:ln w="17780">
            <a:solidFill>
              <a:srgbClr val="2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300" b="1">
                <a:solidFill>
                  <a:srgbClr val="162745"/>
                </a:solidFill>
                <a:latin typeface="Aptos"/>
              </a:defRPr>
            </a:pPr>
            <a:r>
              <a:t>Initialize Runs</a:t>
            </a:r>
          </a:p>
          <a:p>
            <a:pPr algn="ctr">
              <a:spcBef>
                <a:spcPts val="500"/>
              </a:spcBef>
              <a:defRPr sz="900">
                <a:solidFill>
                  <a:srgbClr val="283343"/>
                </a:solidFill>
                <a:latin typeface="Aptos"/>
              </a:defRPr>
            </a:pPr>
            <a:r>
              <a:t>Fixed-price + markdown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325880"/>
            <a:ext cx="2560320" cy="713232"/>
          </a:xfrm>
          <a:prstGeom prst="roundRect">
            <a:avLst/>
          </a:prstGeom>
          <a:solidFill>
            <a:srgbClr val="E7F0FC"/>
          </a:solidFill>
          <a:ln w="17780">
            <a:solidFill>
              <a:srgbClr val="2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300" b="1">
                <a:solidFill>
                  <a:srgbClr val="162745"/>
                </a:solidFill>
                <a:latin typeface="Aptos"/>
              </a:defRPr>
            </a:pPr>
            <a:r>
              <a:t>Set Day / Demand</a:t>
            </a:r>
          </a:p>
          <a:p>
            <a:pPr algn="ctr">
              <a:spcBef>
                <a:spcPts val="500"/>
              </a:spcBef>
              <a:defRPr sz="900">
                <a:solidFill>
                  <a:srgbClr val="283343"/>
                </a:solidFill>
                <a:latin typeface="Aptos"/>
              </a:defRPr>
            </a:pPr>
            <a:r>
              <a:t>Simulate daily demand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1682496"/>
            <a:ext cx="502920" cy="0"/>
          </a:xfrm>
          <a:prstGeom prst="line">
            <a:avLst/>
          </a:prstGeom>
          <a:ln w="22860">
            <a:solidFill>
              <a:srgbClr val="5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1682496"/>
            <a:ext cx="502920" cy="0"/>
          </a:xfrm>
          <a:prstGeom prst="line">
            <a:avLst/>
          </a:prstGeom>
          <a:ln w="22860">
            <a:solidFill>
              <a:srgbClr val="5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21040" y="1682496"/>
            <a:ext cx="502920" cy="0"/>
          </a:xfrm>
          <a:prstGeom prst="line">
            <a:avLst/>
          </a:prstGeom>
          <a:ln w="22860">
            <a:solidFill>
              <a:srgbClr val="5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823960" y="2743200"/>
            <a:ext cx="2560320" cy="822960"/>
          </a:xfrm>
          <a:prstGeom prst="roundRect">
            <a:avLst/>
          </a:prstGeom>
          <a:solidFill>
            <a:srgbClr val="E0F5F2"/>
          </a:solidFill>
          <a:ln w="17780">
            <a:solidFill>
              <a:srgbClr val="14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300" b="1">
                <a:solidFill>
                  <a:srgbClr val="162745"/>
                </a:solidFill>
                <a:latin typeface="Aptos"/>
              </a:defRPr>
            </a:pPr>
            <a:r>
              <a:t>Sell Inventory</a:t>
            </a:r>
          </a:p>
          <a:p>
            <a:pPr algn="ctr">
              <a:spcBef>
                <a:spcPts val="500"/>
              </a:spcBef>
              <a:defRPr sz="950">
                <a:solidFill>
                  <a:srgbClr val="283343"/>
                </a:solidFill>
                <a:latin typeface="Aptos"/>
              </a:defRPr>
            </a:pPr>
            <a:r>
              <a:t>Apply demand + FEFO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743200"/>
            <a:ext cx="2331720" cy="822960"/>
          </a:xfrm>
          <a:prstGeom prst="roundRect">
            <a:avLst/>
          </a:prstGeom>
          <a:solidFill>
            <a:srgbClr val="FFF5DC"/>
          </a:solidFill>
          <a:ln w="17780">
            <a:solidFill>
              <a:srgbClr val="CF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62745"/>
                </a:solidFill>
                <a:latin typeface="Aptos"/>
              </a:defRPr>
            </a:pPr>
            <a:r>
              <a:t>Apply Policy</a:t>
            </a:r>
          </a:p>
          <a:p>
            <a:pPr algn="ctr">
              <a:spcBef>
                <a:spcPts val="500"/>
              </a:spcBef>
              <a:defRPr sz="900">
                <a:solidFill>
                  <a:srgbClr val="283343"/>
                </a:solidFill>
                <a:latin typeface="Aptos"/>
              </a:defRPr>
            </a:pPr>
            <a:r>
              <a:t>Fixed price or age-based discount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2743200"/>
            <a:ext cx="2331720" cy="822960"/>
          </a:xfrm>
          <a:prstGeom prst="roundRect">
            <a:avLst/>
          </a:prstGeom>
          <a:solidFill>
            <a:srgbClr val="E7F0FC"/>
          </a:solidFill>
          <a:ln w="17780">
            <a:solidFill>
              <a:srgbClr val="2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62745"/>
                </a:solidFill>
                <a:latin typeface="Aptos"/>
              </a:defRPr>
            </a:pPr>
            <a:r>
              <a:t>Update State</a:t>
            </a:r>
          </a:p>
          <a:p>
            <a:pPr algn="ctr">
              <a:spcBef>
                <a:spcPts val="500"/>
              </a:spcBef>
              <a:defRPr sz="900">
                <a:solidFill>
                  <a:srgbClr val="283343"/>
                </a:solidFill>
                <a:latin typeface="Aptos"/>
              </a:defRPr>
            </a:pPr>
            <a:r>
              <a:t>Stock, revenue, costs, waste</a:t>
            </a:r>
          </a:p>
        </p:txBody>
      </p:sp>
      <p:sp>
        <p:nvSpPr>
          <p:cNvPr id="14" name="Diamond 13"/>
          <p:cNvSpPr/>
          <p:nvPr/>
        </p:nvSpPr>
        <p:spPr>
          <a:xfrm>
            <a:off x="594360" y="2743200"/>
            <a:ext cx="2057400" cy="822960"/>
          </a:xfrm>
          <a:prstGeom prst="diamond">
            <a:avLst/>
          </a:prstGeom>
          <a:solidFill>
            <a:srgbClr val="F3F6FA"/>
          </a:solidFill>
          <a:ln w="17780">
            <a:solidFill>
              <a:srgbClr val="5B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62745"/>
                </a:solidFill>
                <a:latin typeface="Aptos"/>
              </a:defRPr>
            </a:pPr>
            <a:r>
              <a:t>Next Day?</a:t>
            </a:r>
          </a:p>
          <a:p>
            <a:pPr algn="ctr">
              <a:spcBef>
                <a:spcPts val="500"/>
              </a:spcBef>
              <a:defRPr sz="900">
                <a:solidFill>
                  <a:srgbClr val="283343"/>
                </a:solidFill>
                <a:latin typeface="Aptos"/>
              </a:defRPr>
            </a:pPr>
            <a:r>
              <a:t>Repeat until horizon ends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104120" y="2039112"/>
            <a:ext cx="0" cy="704088"/>
          </a:xfrm>
          <a:prstGeom prst="line">
            <a:avLst/>
          </a:prstGeom>
          <a:ln w="22860">
            <a:solidFill>
              <a:srgbClr val="5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321040" y="3154680"/>
            <a:ext cx="502920" cy="0"/>
          </a:xfrm>
          <a:prstGeom prst="line">
            <a:avLst/>
          </a:prstGeom>
          <a:ln w="22860">
            <a:solidFill>
              <a:srgbClr val="5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486400" y="3154680"/>
            <a:ext cx="502920" cy="0"/>
          </a:xfrm>
          <a:prstGeom prst="line">
            <a:avLst/>
          </a:prstGeom>
          <a:ln w="22860">
            <a:solidFill>
              <a:srgbClr val="5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651760" y="3154680"/>
            <a:ext cx="502920" cy="0"/>
          </a:xfrm>
          <a:prstGeom prst="line">
            <a:avLst/>
          </a:prstGeom>
          <a:ln w="22860">
            <a:solidFill>
              <a:srgbClr val="5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526280"/>
            <a:ext cx="2331720" cy="822960"/>
          </a:xfrm>
          <a:prstGeom prst="roundRect">
            <a:avLst/>
          </a:prstGeom>
          <a:solidFill>
            <a:srgbClr val="E7F0FC"/>
          </a:solidFill>
          <a:ln w="17780">
            <a:solidFill>
              <a:srgbClr val="2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62745"/>
                </a:solidFill>
                <a:latin typeface="Aptos"/>
              </a:defRPr>
            </a:pPr>
            <a:r>
              <a:t>Aggregate Results</a:t>
            </a:r>
          </a:p>
          <a:p>
            <a:pPr algn="ctr">
              <a:spcBef>
                <a:spcPts val="500"/>
              </a:spcBef>
              <a:defRPr sz="950">
                <a:solidFill>
                  <a:srgbClr val="283343"/>
                </a:solidFill>
                <a:latin typeface="Aptos"/>
              </a:defRPr>
            </a:pPr>
            <a:r>
              <a:t>Daily KPIs + event logs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4526280"/>
            <a:ext cx="2331720" cy="822960"/>
          </a:xfrm>
          <a:prstGeom prst="roundRect">
            <a:avLst/>
          </a:prstGeom>
          <a:solidFill>
            <a:srgbClr val="E0F5F2"/>
          </a:solidFill>
          <a:ln w="17780">
            <a:solidFill>
              <a:srgbClr val="14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62745"/>
                </a:solidFill>
                <a:latin typeface="Aptos"/>
              </a:defRPr>
            </a:pPr>
            <a:r>
              <a:t>Compare Policies</a:t>
            </a:r>
          </a:p>
          <a:p>
            <a:pPr algn="ctr">
              <a:spcBef>
                <a:spcPts val="500"/>
              </a:spcBef>
              <a:defRPr sz="950">
                <a:solidFill>
                  <a:srgbClr val="283343"/>
                </a:solidFill>
                <a:latin typeface="Aptos"/>
              </a:defRPr>
            </a:pPr>
            <a:r>
              <a:t>Profit • waste • revenue • margin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526280"/>
            <a:ext cx="2331720" cy="822960"/>
          </a:xfrm>
          <a:prstGeom prst="roundRect">
            <a:avLst/>
          </a:prstGeom>
          <a:solidFill>
            <a:srgbClr val="FFF5DC"/>
          </a:solidFill>
          <a:ln w="17780">
            <a:solidFill>
              <a:srgbClr val="CF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50" b="1">
                <a:solidFill>
                  <a:srgbClr val="162745"/>
                </a:solidFill>
                <a:latin typeface="Aptos"/>
              </a:defRPr>
            </a:pPr>
            <a:r>
              <a:t>Tune Discount Grid</a:t>
            </a:r>
          </a:p>
          <a:p>
            <a:pPr algn="ctr">
              <a:spcBef>
                <a:spcPts val="500"/>
              </a:spcBef>
              <a:defRPr sz="950">
                <a:solidFill>
                  <a:srgbClr val="283343"/>
                </a:solidFill>
                <a:latin typeface="Aptos"/>
              </a:defRPr>
            </a:pPr>
            <a:r>
              <a:t>Evaluate candidate thresholds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4526280"/>
            <a:ext cx="1737360" cy="822960"/>
          </a:xfrm>
          <a:prstGeom prst="roundRect">
            <a:avLst/>
          </a:prstGeom>
          <a:solidFill>
            <a:srgbClr val="F3F6FA"/>
          </a:solidFill>
          <a:ln w="17780">
            <a:solidFill>
              <a:srgbClr val="5B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200" b="1">
                <a:solidFill>
                  <a:srgbClr val="162745"/>
                </a:solidFill>
                <a:latin typeface="Aptos"/>
              </a:defRPr>
            </a:pPr>
            <a:r>
              <a:t>Review</a:t>
            </a:r>
          </a:p>
          <a:p>
            <a:pPr algn="ctr">
              <a:spcBef>
                <a:spcPts val="500"/>
              </a:spcBef>
              <a:defRPr sz="900">
                <a:solidFill>
                  <a:srgbClr val="283343"/>
                </a:solidFill>
                <a:latin typeface="Aptos"/>
              </a:defRPr>
            </a:pPr>
            <a:r>
              <a:t>Dashboard / CSV export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27632" y="3566160"/>
            <a:ext cx="0" cy="960120"/>
          </a:xfrm>
          <a:prstGeom prst="line">
            <a:avLst/>
          </a:prstGeom>
          <a:ln w="22860">
            <a:solidFill>
              <a:srgbClr val="B34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26080" y="4937760"/>
            <a:ext cx="731520" cy="0"/>
          </a:xfrm>
          <a:prstGeom prst="line">
            <a:avLst/>
          </a:prstGeom>
          <a:ln w="22860">
            <a:solidFill>
              <a:srgbClr val="5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89320" y="4937760"/>
            <a:ext cx="731520" cy="0"/>
          </a:xfrm>
          <a:prstGeom prst="line">
            <a:avLst/>
          </a:prstGeom>
          <a:ln w="22860">
            <a:solidFill>
              <a:srgbClr val="5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52560" y="4937760"/>
            <a:ext cx="594360" cy="0"/>
          </a:xfrm>
          <a:prstGeom prst="line">
            <a:avLst/>
          </a:prstGeom>
          <a:ln w="22860">
            <a:solidFill>
              <a:srgbClr val="5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5"/>
                </a:solidFill>
                <a:latin typeface="Aptos Display"/>
              </a:defRPr>
            </a:pPr>
            <a:r>
              <a:t>How to Read the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97D"/>
                </a:solidFill>
                <a:latin typeface="Aptos"/>
              </a:defRPr>
            </a:pPr>
            <a:r>
              <a:t>Use these diagrams during the project review or viva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5074920" cy="1234440"/>
          </a:xfrm>
          <a:prstGeom prst="roundRect">
            <a:avLst/>
          </a:prstGeom>
          <a:solidFill>
            <a:srgbClr val="E7F0FC"/>
          </a:solidFill>
          <a:ln w="17780">
            <a:solidFill>
              <a:srgbClr val="2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600" b="1">
                <a:solidFill>
                  <a:srgbClr val="162745"/>
                </a:solidFill>
                <a:latin typeface="Aptos"/>
              </a:defRPr>
            </a:pPr>
            <a:r>
              <a:t>Architecture diagram</a:t>
            </a:r>
          </a:p>
          <a:p>
            <a:pPr algn="ctr">
              <a:spcBef>
                <a:spcPts val="500"/>
              </a:spcBef>
              <a:defRPr sz="1100">
                <a:solidFill>
                  <a:srgbClr val="283343"/>
                </a:solidFill>
                <a:latin typeface="Aptos"/>
              </a:defRPr>
            </a:pPr>
            <a:r>
              <a:t>Shows the main UI surfaces, input files, simulation engine, policy evaluation, generated CSVs, and upload/event history. Arrows show conceptual data flow, not a live service connection.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508760"/>
            <a:ext cx="5074920" cy="1234440"/>
          </a:xfrm>
          <a:prstGeom prst="roundRect">
            <a:avLst/>
          </a:prstGeom>
          <a:solidFill>
            <a:srgbClr val="E0F5F2"/>
          </a:solidFill>
          <a:ln w="17780">
            <a:solidFill>
              <a:srgbClr val="14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600" b="1">
                <a:solidFill>
                  <a:srgbClr val="162745"/>
                </a:solidFill>
                <a:latin typeface="Aptos"/>
              </a:defRPr>
            </a:pPr>
            <a:r>
              <a:t>Flowchart</a:t>
            </a:r>
          </a:p>
          <a:p>
            <a:pPr algn="ctr">
              <a:spcBef>
                <a:spcPts val="500"/>
              </a:spcBef>
              <a:defRPr sz="1100">
                <a:solidFill>
                  <a:srgbClr val="283343"/>
                </a:solidFill>
                <a:latin typeface="Aptos"/>
              </a:defRPr>
            </a:pPr>
            <a:r>
              <a:t>Shows the simulation loop: load inputs → initialize policy runs → simulate demand → apply pricing policy → sell stock → update inventory and accounting → compare and export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246120"/>
            <a:ext cx="10652760" cy="1143000"/>
          </a:xfrm>
          <a:prstGeom prst="roundRect">
            <a:avLst/>
          </a:prstGeom>
          <a:solidFill>
            <a:srgbClr val="FFF5DC"/>
          </a:solidFill>
          <a:ln w="17780">
            <a:solidFill>
              <a:srgbClr val="CF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500" b="1">
                <a:solidFill>
                  <a:srgbClr val="162745"/>
                </a:solidFill>
                <a:latin typeface="Aptos"/>
              </a:defRPr>
            </a:pPr>
            <a:r>
              <a:t>Important scope distinction</a:t>
            </a:r>
          </a:p>
          <a:p>
            <a:pPr algn="ctr">
              <a:spcBef>
                <a:spcPts val="500"/>
              </a:spcBef>
              <a:defRPr sz="1100">
                <a:solidFill>
                  <a:srgbClr val="283343"/>
                </a:solidFill>
                <a:latin typeface="Aptos"/>
              </a:defRPr>
            </a:pPr>
            <a:r>
              <a:t>The repository contains a shopper-facing FreshMart demo, but it is not wired to the simulation engine’s current inventory/events. Treat it as a separate UI demonstration rather than a connected production storefront.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2740</Words>
  <Application>Microsoft Office PowerPoint</Application>
  <PresentationFormat>Widescreen</PresentationFormat>
  <Paragraphs>381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Shobana's PC</cp:lastModifiedBy>
  <cp:revision>3</cp:revision>
  <dcterms:created xsi:type="dcterms:W3CDTF">2013-01-27T09:14:16Z</dcterms:created>
  <dcterms:modified xsi:type="dcterms:W3CDTF">2026-10-22T11:49:50Z</dcterms:modified>
  <cp:category/>
</cp:coreProperties>
</file>